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Sipani" userId="c215614d1cb70edf" providerId="LiveId" clId="{4CC7FFC9-21B5-486B-AF6F-77BCC0291AC6}"/>
    <pc:docChg chg="undo custSel addSld modSld">
      <pc:chgData name="Rishabh Sipani" userId="c215614d1cb70edf" providerId="LiveId" clId="{4CC7FFC9-21B5-486B-AF6F-77BCC0291AC6}" dt="2026-08-19T10:24:50.301" v="596" actId="20577"/>
      <pc:docMkLst>
        <pc:docMk/>
      </pc:docMkLst>
      <pc:sldChg chg="modSp mod">
        <pc:chgData name="Rishabh Sipani" userId="c215614d1cb70edf" providerId="LiveId" clId="{4CC7FFC9-21B5-486B-AF6F-77BCC0291AC6}" dt="2026-07-24T12:58:53.850" v="0" actId="1076"/>
        <pc:sldMkLst>
          <pc:docMk/>
          <pc:sldMk cId="0" sldId="256"/>
        </pc:sldMkLst>
        <pc:spChg chg="mod">
          <ac:chgData name="Rishabh Sipani" userId="c215614d1cb70edf" providerId="LiveId" clId="{4CC7FFC9-21B5-486B-AF6F-77BCC0291AC6}" dt="2026-07-24T12:58:53.850" v="0" actId="1076"/>
          <ac:spMkLst>
            <pc:docMk/>
            <pc:sldMk cId="0" sldId="256"/>
            <ac:spMk id="6" creationId="{00000000-0000-0000-0000-000000000000}"/>
          </ac:spMkLst>
        </pc:spChg>
      </pc:sldChg>
      <pc:sldChg chg="delSp modSp mod">
        <pc:chgData name="Rishabh Sipani" userId="c215614d1cb70edf" providerId="LiveId" clId="{4CC7FFC9-21B5-486B-AF6F-77BCC0291AC6}" dt="2026-07-24T13:00:37.330" v="15" actId="1076"/>
        <pc:sldMkLst>
          <pc:docMk/>
          <pc:sldMk cId="0" sldId="257"/>
        </pc:sldMkLst>
        <pc:spChg chg="mod">
          <ac:chgData name="Rishabh Sipani" userId="c215614d1cb70edf" providerId="LiveId" clId="{4CC7FFC9-21B5-486B-AF6F-77BCC0291AC6}" dt="2026-07-24T13:00:37.330" v="15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2:59:28.601" v="1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2:59:40.443" v="3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2:59:48.507" v="4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2:59:54.812" v="5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00:14.636" v="14" actId="20577"/>
          <ac:spMkLst>
            <pc:docMk/>
            <pc:sldMk cId="0" sldId="257"/>
            <ac:spMk id="26" creationId="{00000000-0000-0000-0000-000000000000}"/>
          </ac:spMkLst>
        </pc:spChg>
      </pc:sldChg>
      <pc:sldChg chg="modSp mod">
        <pc:chgData name="Rishabh Sipani" userId="c215614d1cb70edf" providerId="LiveId" clId="{4CC7FFC9-21B5-486B-AF6F-77BCC0291AC6}" dt="2026-07-24T13:27:50.432" v="387" actId="1036"/>
        <pc:sldMkLst>
          <pc:docMk/>
          <pc:sldMk cId="0" sldId="258"/>
        </pc:sldMkLst>
        <pc:spChg chg="mod">
          <ac:chgData name="Rishabh Sipani" userId="c215614d1cb70edf" providerId="LiveId" clId="{4CC7FFC9-21B5-486B-AF6F-77BCC0291AC6}" dt="2026-07-24T13:27:47.913" v="386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27:50.432" v="387" actId="1036"/>
          <ac:spMkLst>
            <pc:docMk/>
            <pc:sldMk cId="0" sldId="258"/>
            <ac:spMk id="33" creationId="{00000000-0000-0000-0000-000000000000}"/>
          </ac:spMkLst>
        </pc:spChg>
      </pc:sldChg>
      <pc:sldChg chg="modSp mod">
        <pc:chgData name="Rishabh Sipani" userId="c215614d1cb70edf" providerId="LiveId" clId="{4CC7FFC9-21B5-486B-AF6F-77BCC0291AC6}" dt="2026-07-24T13:03:53.281" v="218" actId="20577"/>
        <pc:sldMkLst>
          <pc:docMk/>
          <pc:sldMk cId="0" sldId="259"/>
        </pc:sldMkLst>
        <pc:spChg chg="mod">
          <ac:chgData name="Rishabh Sipani" userId="c215614d1cb70edf" providerId="LiveId" clId="{4CC7FFC9-21B5-486B-AF6F-77BCC0291AC6}" dt="2026-07-24T13:02:36.651" v="27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02:52.138" v="40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03:07.874" v="76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03:21.453" v="110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03:28.101" v="120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03:53.281" v="218" actId="20577"/>
          <ac:spMkLst>
            <pc:docMk/>
            <pc:sldMk cId="0" sldId="259"/>
            <ac:spMk id="30" creationId="{00000000-0000-0000-0000-000000000000}"/>
          </ac:spMkLst>
        </pc:spChg>
      </pc:sldChg>
      <pc:sldChg chg="modSp mod">
        <pc:chgData name="Rishabh Sipani" userId="c215614d1cb70edf" providerId="LiveId" clId="{4CC7FFC9-21B5-486B-AF6F-77BCC0291AC6}" dt="2026-08-19T10:24:50.301" v="596" actId="20577"/>
        <pc:sldMkLst>
          <pc:docMk/>
          <pc:sldMk cId="0" sldId="261"/>
        </pc:sldMkLst>
        <pc:spChg chg="mod">
          <ac:chgData name="Rishabh Sipani" userId="c215614d1cb70edf" providerId="LiveId" clId="{4CC7FFC9-21B5-486B-AF6F-77BCC0291AC6}" dt="2026-08-19T10:24:14.981" v="585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ishabh Sipani" userId="c215614d1cb70edf" providerId="LiveId" clId="{4CC7FFC9-21B5-486B-AF6F-77BCC0291AC6}" dt="2026-08-19T10:24:50.301" v="596" actId="20577"/>
          <ac:spMkLst>
            <pc:docMk/>
            <pc:sldMk cId="0" sldId="261"/>
            <ac:spMk id="38" creationId="{00000000-0000-0000-0000-000000000000}"/>
          </ac:spMkLst>
        </pc:spChg>
      </pc:sldChg>
      <pc:sldChg chg="modSp mod">
        <pc:chgData name="Rishabh Sipani" userId="c215614d1cb70edf" providerId="LiveId" clId="{4CC7FFC9-21B5-486B-AF6F-77BCC0291AC6}" dt="2026-07-24T13:28:35.619" v="423" actId="20577"/>
        <pc:sldMkLst>
          <pc:docMk/>
          <pc:sldMk cId="0" sldId="262"/>
        </pc:sldMkLst>
        <pc:spChg chg="mod">
          <ac:chgData name="Rishabh Sipani" userId="c215614d1cb70edf" providerId="LiveId" clId="{4CC7FFC9-21B5-486B-AF6F-77BCC0291AC6}" dt="2026-07-24T13:28:35.619" v="423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Rishabh Sipani" userId="c215614d1cb70edf" providerId="LiveId" clId="{4CC7FFC9-21B5-486B-AF6F-77BCC0291AC6}" dt="2026-07-24T13:23:43.618" v="230" actId="20577"/>
        <pc:sldMkLst>
          <pc:docMk/>
          <pc:sldMk cId="0" sldId="263"/>
        </pc:sldMkLst>
        <pc:spChg chg="mod">
          <ac:chgData name="Rishabh Sipani" userId="c215614d1cb70edf" providerId="LiveId" clId="{4CC7FFC9-21B5-486B-AF6F-77BCC0291AC6}" dt="2026-07-24T13:23:43.618" v="230" actId="20577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Rishabh Sipani" userId="c215614d1cb70edf" providerId="LiveId" clId="{4CC7FFC9-21B5-486B-AF6F-77BCC0291AC6}" dt="2026-07-24T13:28:50.107" v="450" actId="20577"/>
        <pc:sldMkLst>
          <pc:docMk/>
          <pc:sldMk cId="0" sldId="264"/>
        </pc:sldMkLst>
        <pc:spChg chg="mod">
          <ac:chgData name="Rishabh Sipani" userId="c215614d1cb70edf" providerId="LiveId" clId="{4CC7FFC9-21B5-486B-AF6F-77BCC0291AC6}" dt="2026-07-24T13:28:50.107" v="450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24:09.572" v="244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24:46.816" v="286" actId="20577"/>
          <ac:spMkLst>
            <pc:docMk/>
            <pc:sldMk cId="0" sldId="264"/>
            <ac:spMk id="31" creationId="{00000000-0000-0000-0000-000000000000}"/>
          </ac:spMkLst>
        </pc:spChg>
      </pc:sldChg>
      <pc:sldChg chg="modSp mod">
        <pc:chgData name="Rishabh Sipani" userId="c215614d1cb70edf" providerId="LiveId" clId="{4CC7FFC9-21B5-486B-AF6F-77BCC0291AC6}" dt="2026-07-24T13:28:58.198" v="451" actId="1076"/>
        <pc:sldMkLst>
          <pc:docMk/>
          <pc:sldMk cId="0" sldId="265"/>
        </pc:sldMkLst>
        <pc:spChg chg="mod">
          <ac:chgData name="Rishabh Sipani" userId="c215614d1cb70edf" providerId="LiveId" clId="{4CC7FFC9-21B5-486B-AF6F-77BCC0291AC6}" dt="2026-07-24T13:25:31.463" v="315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25:15.148" v="298" actId="20577"/>
          <ac:spMkLst>
            <pc:docMk/>
            <pc:sldMk cId="0" sldId="265"/>
            <ac:spMk id="14" creationId="{00000000-0000-0000-0000-000000000000}"/>
          </ac:spMkLst>
        </pc:spChg>
        <pc:picChg chg="mod">
          <ac:chgData name="Rishabh Sipani" userId="c215614d1cb70edf" providerId="LiveId" clId="{4CC7FFC9-21B5-486B-AF6F-77BCC0291AC6}" dt="2026-07-24T13:28:58.198" v="451" actId="1076"/>
          <ac:picMkLst>
            <pc:docMk/>
            <pc:sldMk cId="0" sldId="265"/>
            <ac:picMk id="4" creationId="{00000000-0000-0000-0000-000000000000}"/>
          </ac:picMkLst>
        </pc:picChg>
      </pc:sldChg>
      <pc:sldChg chg="modSp mod">
        <pc:chgData name="Rishabh Sipani" userId="c215614d1cb70edf" providerId="LiveId" clId="{4CC7FFC9-21B5-486B-AF6F-77BCC0291AC6}" dt="2026-08-04T14:50:42.295" v="563" actId="20577"/>
        <pc:sldMkLst>
          <pc:docMk/>
          <pc:sldMk cId="0" sldId="266"/>
        </pc:sldMkLst>
        <pc:spChg chg="mod">
          <ac:chgData name="Rishabh Sipani" userId="c215614d1cb70edf" providerId="LiveId" clId="{4CC7FFC9-21B5-486B-AF6F-77BCC0291AC6}" dt="2026-07-24T13:26:23.822" v="356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Rishabh Sipani" userId="c215614d1cb70edf" providerId="LiveId" clId="{4CC7FFC9-21B5-486B-AF6F-77BCC0291AC6}" dt="2026-08-04T14:50:42.295" v="563" actId="20577"/>
          <ac:spMkLst>
            <pc:docMk/>
            <pc:sldMk cId="0" sldId="266"/>
            <ac:spMk id="35" creationId="{00000000-0000-0000-0000-000000000000}"/>
          </ac:spMkLst>
        </pc:spChg>
      </pc:sldChg>
      <pc:sldChg chg="modSp mod">
        <pc:chgData name="Rishabh Sipani" userId="c215614d1cb70edf" providerId="LiveId" clId="{4CC7FFC9-21B5-486B-AF6F-77BCC0291AC6}" dt="2026-08-04T14:50:46.564" v="565" actId="20577"/>
        <pc:sldMkLst>
          <pc:docMk/>
          <pc:sldMk cId="0" sldId="267"/>
        </pc:sldMkLst>
        <pc:spChg chg="mod">
          <ac:chgData name="Rishabh Sipani" userId="c215614d1cb70edf" providerId="LiveId" clId="{4CC7FFC9-21B5-486B-AF6F-77BCC0291AC6}" dt="2026-07-24T13:29:21.052" v="464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27:01.056" v="374" actId="20577"/>
          <ac:spMkLst>
            <pc:docMk/>
            <pc:sldMk cId="0" sldId="267"/>
            <ac:spMk id="25" creationId="{00000000-0000-0000-0000-000000000000}"/>
          </ac:spMkLst>
        </pc:spChg>
        <pc:spChg chg="mod">
          <ac:chgData name="Rishabh Sipani" userId="c215614d1cb70edf" providerId="LiveId" clId="{4CC7FFC9-21B5-486B-AF6F-77BCC0291AC6}" dt="2026-07-24T13:26:39.105" v="357" actId="20577"/>
          <ac:spMkLst>
            <pc:docMk/>
            <pc:sldMk cId="0" sldId="267"/>
            <ac:spMk id="26" creationId="{00000000-0000-0000-0000-000000000000}"/>
          </ac:spMkLst>
        </pc:spChg>
        <pc:spChg chg="mod">
          <ac:chgData name="Rishabh Sipani" userId="c215614d1cb70edf" providerId="LiveId" clId="{4CC7FFC9-21B5-486B-AF6F-77BCC0291AC6}" dt="2026-08-04T14:50:46.564" v="565" actId="20577"/>
          <ac:spMkLst>
            <pc:docMk/>
            <pc:sldMk cId="0" sldId="267"/>
            <ac:spMk id="28" creationId="{00000000-0000-0000-0000-000000000000}"/>
          </ac:spMkLst>
        </pc:spChg>
      </pc:sldChg>
      <pc:sldChg chg="modSp add mod">
        <pc:chgData name="Rishabh Sipani" userId="c215614d1cb70edf" providerId="LiveId" clId="{4CC7FFC9-21B5-486B-AF6F-77BCC0291AC6}" dt="2026-08-04T14:50:38.176" v="561" actId="20577"/>
        <pc:sldMkLst>
          <pc:docMk/>
          <pc:sldMk cId="2567916967" sldId="268"/>
        </pc:sldMkLst>
        <pc:spChg chg="mod">
          <ac:chgData name="Rishabh Sipani" userId="c215614d1cb70edf" providerId="LiveId" clId="{4CC7FFC9-21B5-486B-AF6F-77BCC0291AC6}" dt="2026-08-04T14:47:09.508" v="483" actId="20577"/>
          <ac:spMkLst>
            <pc:docMk/>
            <pc:sldMk cId="2567916967" sldId="268"/>
            <ac:spMk id="2" creationId="{96FCD6FC-E4F6-AD2D-C664-7B54EA7861FB}"/>
          </ac:spMkLst>
        </pc:spChg>
        <pc:spChg chg="mod">
          <ac:chgData name="Rishabh Sipani" userId="c215614d1cb70edf" providerId="LiveId" clId="{4CC7FFC9-21B5-486B-AF6F-77BCC0291AC6}" dt="2026-08-04T14:47:39.609" v="533" actId="20577"/>
          <ac:spMkLst>
            <pc:docMk/>
            <pc:sldMk cId="2567916967" sldId="268"/>
            <ac:spMk id="3" creationId="{F3A363A2-D7A6-1574-681F-3EC42483A4BB}"/>
          </ac:spMkLst>
        </pc:spChg>
        <pc:spChg chg="mod">
          <ac:chgData name="Rishabh Sipani" userId="c215614d1cb70edf" providerId="LiveId" clId="{4CC7FFC9-21B5-486B-AF6F-77BCC0291AC6}" dt="2026-08-04T14:50:22.900" v="559" actId="20577"/>
          <ac:spMkLst>
            <pc:docMk/>
            <pc:sldMk cId="2567916967" sldId="268"/>
            <ac:spMk id="9" creationId="{36BEB230-DDFB-0DE1-BC27-C13109EC6DBB}"/>
          </ac:spMkLst>
        </pc:spChg>
        <pc:spChg chg="mod">
          <ac:chgData name="Rishabh Sipani" userId="c215614d1cb70edf" providerId="LiveId" clId="{4CC7FFC9-21B5-486B-AF6F-77BCC0291AC6}" dt="2026-08-04T14:50:38.176" v="561" actId="20577"/>
          <ac:spMkLst>
            <pc:docMk/>
            <pc:sldMk cId="2567916967" sldId="268"/>
            <ac:spMk id="28" creationId="{277A3C08-B5B2-22D8-B216-79E1C91A30A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335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product, not the assignment: 'Solar IMS is a decision-support system that tells a solar plant's maintenance team exactly when a panel needs cleaning.' Do not over-explain yet — this is a 10-second cold open, not the pitch. Transition: 'To understand why this matters, let's look at the context every solar operator is dealing with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stage: solar is one of the fastest-growing generation asset classes, and plants are becoming too large to monitor manually panel by panel. Don't dive into any technology yet — this slide is about the industry backdrop, not the product. Transition: 'Within that growth, one operational problem keeps recurring — dust.'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as a chain: dust builds up silently, output drops, energy is lost forever that day, teams only react once it's visible, and schedules are fixed rather than condition-based. Keep this to the pattern, not plant-specific numbers — the financial size of the problem comes next. Transition: 'So what does this actually cost the business? Let's put numbers to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financial translation of the previous slide — each card is a cost line a stakeholder already tracks (revenue, generation, opex, crew utilization, planning risk). Don't attach specific currency figures unless the plant's actuals are available — speak in terms of the categories of loss. Transition: 'This is the exact gap Solar IMS was built to close — let's introduce the solution.'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Solar IMS as a decision-support system, not a piece of software or a model — the value is the recommendation it produces, not the technology underneath. Explicitly avoid the words 'machine learning' or 'algorithm' here — save all technical framing for the workflow slide, and even there keep it at a conceptual level. Transition: 'Here is the simple operational workflow behind that recommendation.'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this once, left to right, at the conceptual level only: data comes in, gets processed, current performance is analyzed against what's expected, any loss is quantified, and a recommendation reaches the dashboard. Do not name specific model types or metrics here — if pressed, say the modeling approach is documented in the notebook. Transition: 'That workflow powers a specific set of capabilities — here's what the system actually delivers.'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this as a product feature summary, similar to a solution one-pager — six capabilities, each in one breath. Do not explain how any capability is computed; if a manager asks, refer them to the notebook and dashboard for the underlying detail. Transition: 'Let's now walk through how an operator actually uses these capabilities day to 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as the operator's actual daily loop, not as system architecture — this is the human workflow the product supports. Deliberately avoid the words 'machine learning' or 'model' anywhere in this slide; describe outputs only as 'flags' and 'recommendations.' Transition: 'Repeated every day, this loop is where the real business value comes from — let's quantify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converts the operator workflow into the value story stakeholders care about — cost avoidance, better planning, recovered revenue, and utilization. Keep every point qualitative unless the team has agreed, plant-specific figures to quote — don't improvise numbers live. Transition: 'This value is delivered through a single interface — let's look at the dashboard.'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preview, not a live walkthrough — name the five panels and what each is for, then move on. Do not attempt to explain individual charts or click through logic here; hand off to the live Streamlit dashboard for that. Transition: 'This is where the product stands today — here's where it's headed next.'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7498-D859-FE0D-E14B-6CABCD73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2E7C9-1299-4036-342B-B3F25421C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01F66-1C0A-3B2C-8142-42804271F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preview, not a live walkthrough — name the five panels and what each is for, then move on. Do not attempt to explain individual charts or click through logic here; hand off to the live Streamlit dashboard for that. Transition: 'This is where the product stands today — here's where it's headed next.'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AD91C-FB47-872A-D32D-9C7382B4D4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16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 deliberate roadmap sequence — near-term integrations first (IoT, SCADA), then advanced sensing (thermal, drone), then portfolio-scale capability (predictive, fleet-wide). Keep each item to one line of business rationale; save any technical feasibility discussion for offline follow-up if asked. Transition: 'Bringing all of this together — here's the story in summary.'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arc in one breath — problem, solution, value, scalability — then land on the closing line as the single sentence you want the room to remember. Do not reopen technical discussion here; this is the summary and close, not a Q&amp;A slide — invite questions verbally instead. This is the final slide — end with the closing statement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olar_ims/icons/hero_s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330">
              <a:alpha val="7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IMS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Intelligent Monitoring System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9090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Soiling Intelligence &amp; Cleaning Recommendation System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" y="4434840"/>
            <a:ext cx="91440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decision-support system for solar asset operations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Demonstration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8449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is scaling faster than the ability to monitor 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Utility-scale solar is growing fast, but our operations teams are still stuck using manual checks and fixed schedules.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327355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solar_ims/icons/trendu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59" y="340111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4462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asset growth vs. 5 years ago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3017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17720" y="327355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home/claude/solar_ims/icons/sta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279" y="340111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17720" y="4462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panels per plant to monitor daily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301752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321040" y="327355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/home/claude/solar_ims/icons/c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599" y="3401111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8321040" y="4462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windows, minimal margin for downtime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720840" y="1801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92240" y="1914861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9"/>
          <p:cNvSpPr/>
          <p:nvPr/>
        </p:nvSpPr>
        <p:spPr>
          <a:xfrm>
            <a:off x="6720840" y="1820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percentage point of lost generation directly reduces plant revenue and delays ROI.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92240" y="240487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6720840" y="2316121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teams need intelligent, data-driven monitoring, not periodic manual checks.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silent efficiency drain, managed by guesswork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6245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solar_ims/icons/drop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75" y="23938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Dust Accumulation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and dirt build up quietly on the panels.</a:t>
            </a:r>
            <a:endParaRPr lang="en-US" sz="1050" dirty="0"/>
          </a:p>
        </p:txBody>
      </p:sp>
      <p:pic>
        <p:nvPicPr>
          <p:cNvPr id="9" name="Image 1" descr="/home/claude/solar_ims/icons/caretright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3246120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89504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361188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/home/claude/solar_ims/icons/chart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5499" y="239389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26664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Efficiency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054096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output silently drops below what it should be.</a:t>
            </a:r>
            <a:endParaRPr lang="en-US" sz="1050" dirty="0"/>
          </a:p>
        </p:txBody>
      </p:sp>
      <p:pic>
        <p:nvPicPr>
          <p:cNvPr id="15" name="Image 3" descr="/home/claude/solar_ims/icons/caretright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246120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38928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1"/>
          <p:cNvSpPr/>
          <p:nvPr/>
        </p:nvSpPr>
        <p:spPr>
          <a:xfrm>
            <a:off x="5861304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4" descr="/home/claude/solar_ims/icons/lightning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4923" y="2393899"/>
            <a:ext cx="332842" cy="3328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76088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Loss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303520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day is over, that lost energy is gone for good.</a:t>
            </a:r>
            <a:endParaRPr lang="en-US" sz="1050" dirty="0"/>
          </a:p>
        </p:txBody>
      </p:sp>
      <p:pic>
        <p:nvPicPr>
          <p:cNvPr id="21" name="Image 5" descr="/home/claude/solar_ims/icons/caretright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246120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88352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5"/>
          <p:cNvSpPr/>
          <p:nvPr/>
        </p:nvSpPr>
        <p:spPr>
          <a:xfrm>
            <a:off x="8110728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6" descr="/home/claude/solar_ims/icons/warning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4347" y="2393899"/>
            <a:ext cx="332842" cy="33284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525512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Maintenance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7552944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react after the problem is obvious.</a:t>
            </a:r>
            <a:endParaRPr lang="en-US" sz="1050" dirty="0"/>
          </a:p>
        </p:txBody>
      </p:sp>
      <p:pic>
        <p:nvPicPr>
          <p:cNvPr id="27" name="Image 7" descr="/home/claude/solar_ims/icons/caretright_s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3246120"/>
            <a:ext cx="164592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37776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19"/>
          <p:cNvSpPr/>
          <p:nvPr/>
        </p:nvSpPr>
        <p:spPr>
          <a:xfrm>
            <a:off x="10360152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8" descr="/home/claude/solar_ims/icons/calendar_or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3771" y="2393899"/>
            <a:ext cx="332842" cy="33284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774936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Schedules</a:t>
            </a:r>
            <a:endParaRPr lang="en-US" sz="1450" dirty="0"/>
          </a:p>
        </p:txBody>
      </p:sp>
      <p:sp>
        <p:nvSpPr>
          <p:cNvPr id="32" name="Text 21"/>
          <p:cNvSpPr/>
          <p:nvPr/>
        </p:nvSpPr>
        <p:spPr>
          <a:xfrm>
            <a:off x="9802368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clean based on a calendar, not when the panels actually need it.</a:t>
            </a:r>
            <a:endParaRPr lang="en-US" sz="1050" dirty="0"/>
          </a:p>
        </p:txBody>
      </p:sp>
      <p:sp>
        <p:nvSpPr>
          <p:cNvPr id="33" name="Text 22"/>
          <p:cNvSpPr/>
          <p:nvPr/>
        </p:nvSpPr>
        <p:spPr>
          <a:xfrm>
            <a:off x="640080" y="5267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issue is that we just cant see the actual condition of the panels.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Soiling erodes value across the plant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62456" y="22402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solar_ims/icons/mon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75" y="23938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Loss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lost kWh means lost revenue, and it adds up fast.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9504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611880" y="22402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solar_ims/icons/light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499" y="23938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6664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Generation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054096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panels quietly underperform compared to their true potential.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38928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5861304" y="22402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solar_ims/icons/wre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923" y="23938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6088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Maintenance Cost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03520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too often wastes labor, water, and time.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88352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110728" y="22402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solar_ims/icons/funne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4347" y="23938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25512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Resource Allocation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52944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crews out based on a schedule, instead of where they are needed most.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37776" y="19202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10360152" y="22402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4" descr="/home/claude/solar_ims/icons/warnin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3771" y="239389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74936" y="30632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Uncertainty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802368" y="36576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good data, its hard to know which plant needs help first.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40080" y="521208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2C36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3"/>
          <p:cNvSpPr/>
          <p:nvPr/>
        </p:nvSpPr>
        <p:spPr>
          <a:xfrm>
            <a:off x="914400" y="52120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smart monitoring, we are almost never cleaning at the right time.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3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Solar IMS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tool to help us run our solar plants better.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IMS checks how the plant is doing right now against what it should be doing. Then, it gives our maintenance team a clear, prioritized action plan.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solar_ims/icons/gau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37707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performance gaps early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370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/home/claude/solar_ims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" y="4483989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3708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where action matters most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50840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/home/claude/solar_ims/icons/listcheck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37" y="5197221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50840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right action, at the right time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040880" y="1554480"/>
            <a:ext cx="4480560" cy="466344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1"/>
          <p:cNvSpPr/>
          <p:nvPr/>
        </p:nvSpPr>
        <p:spPr>
          <a:xfrm>
            <a:off x="736092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60920" y="2240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decision-support layer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top of plant operations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7360920" y="3337560"/>
            <a:ext cx="3840480" cy="0"/>
          </a:xfrm>
          <a:prstGeom prst="line">
            <a:avLst/>
          </a:prstGeom>
          <a:noFill/>
          <a:ln w="12700">
            <a:solidFill>
              <a:srgbClr val="3A467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3" descr="/home/claude/solar_ims/icons/x_s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361188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90688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3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doesnt replace our operations teams.</a:t>
            </a:r>
            <a:endParaRPr lang="en-US" sz="1300" dirty="0"/>
          </a:p>
        </p:txBody>
      </p:sp>
      <p:pic>
        <p:nvPicPr>
          <p:cNvPr id="21" name="Image 4" descr="/home/claude/solar_ims/icons/x_s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448056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90688" y="4434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3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isnt just another dashboard with raw numbers.</a:t>
            </a:r>
            <a:endParaRPr lang="en-US" sz="1300" dirty="0"/>
          </a:p>
        </p:txBody>
      </p:sp>
      <p:pic>
        <p:nvPicPr>
          <p:cNvPr id="23" name="Image 5" descr="/home/claude/solar_ims/icons/check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5349240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790688" y="5303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turns data 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clear next action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 b="1" kern="0" spc="200">
                <a:solidFill>
                  <a:srgbClr val="F5A623"/>
                </a:solidFill>
                <a:latin typeface="Calibri"/>
              </a:rPr>
              <a:t>PROTOTYPE WORKFLOW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400" b="1" kern="0">
                <a:solidFill>
                  <a:srgbClr val="1E2761"/>
                </a:solidFill>
                <a:latin typeface="Cambria"/>
              </a:rPr>
              <a:t>How cleaning decisions are made step-by-step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65276" y="25786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solar_ims/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835" y="2706167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273552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Input — Sensor Data</a:t>
            </a:r>
            <a:endParaRPr lang="en-US" sz="1050" dirty="0"/>
          </a:p>
        </p:txBody>
      </p:sp>
      <p:pic>
        <p:nvPicPr>
          <p:cNvPr id="8" name="Image 1" descr="/home/claude/solar_ims/icons/arrowrigh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446" y="3076956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32660" y="237744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2657856" y="25786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/home/claude/solar_ims/icons/funnel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415" y="2706167"/>
            <a:ext cx="311810" cy="3118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05812" y="3273552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Process — AI Prediction</a:t>
            </a:r>
            <a:endParaRPr lang="en-US" sz="1050" dirty="0"/>
          </a:p>
        </p:txBody>
      </p:sp>
      <p:pic>
        <p:nvPicPr>
          <p:cNvPr id="13" name="Image 3" descr="/home/claude/solar_ims/icons/arrowrigh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026" y="3076956"/>
            <a:ext cx="201168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825240" y="237744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9"/>
          <p:cNvSpPr/>
          <p:nvPr/>
        </p:nvSpPr>
        <p:spPr>
          <a:xfrm>
            <a:off x="4250436" y="25786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4" descr="/home/claude/solar_ims/icons/char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995" y="2706167"/>
            <a:ext cx="311810" cy="31181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898392" y="3273552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Validation — Condition Gates</a:t>
            </a:r>
            <a:endParaRPr lang="en-US" sz="1050" dirty="0"/>
          </a:p>
        </p:txBody>
      </p:sp>
      <p:pic>
        <p:nvPicPr>
          <p:cNvPr id="18" name="Image 5" descr="/home/claude/solar_ims/icons/arrowrigh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606" y="3076956"/>
            <a:ext cx="201168" cy="20116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417820" y="237744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2"/>
          <p:cNvSpPr/>
          <p:nvPr/>
        </p:nvSpPr>
        <p:spPr>
          <a:xfrm>
            <a:off x="5843016" y="25786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6" descr="/home/claude/solar_ims/icons/sun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0575" y="2706167"/>
            <a:ext cx="311810" cy="31181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490972" y="3273552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Branch — Healthy or Degraded</a:t>
            </a:r>
            <a:endParaRPr lang="en-US" sz="1050" dirty="0"/>
          </a:p>
        </p:txBody>
      </p:sp>
      <p:pic>
        <p:nvPicPr>
          <p:cNvPr id="23" name="Image 7" descr="/home/claude/solar_ims/icons/arrowrigh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186" y="3076956"/>
            <a:ext cx="201168" cy="2011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010400" y="237744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5"/>
          <p:cNvSpPr/>
          <p:nvPr/>
        </p:nvSpPr>
        <p:spPr>
          <a:xfrm>
            <a:off x="7435596" y="25786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8" descr="/home/claude/solar_ims/icons/lightning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3155" y="2706167"/>
            <a:ext cx="311810" cy="31181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083552" y="3273552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Diagnosis — Classify Severity</a:t>
            </a:r>
            <a:endParaRPr lang="en-US" sz="1050" dirty="0"/>
          </a:p>
        </p:txBody>
      </p:sp>
      <p:pic>
        <p:nvPicPr>
          <p:cNvPr id="28" name="Image 9" descr="/home/claude/solar_ims/icons/arrowrigh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766" y="3076956"/>
            <a:ext cx="201168" cy="201168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602980" y="237744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8"/>
          <p:cNvSpPr/>
          <p:nvPr/>
        </p:nvSpPr>
        <p:spPr>
          <a:xfrm>
            <a:off x="9028176" y="25786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10" descr="/home/claude/solar_ims/icons/wrench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5735" y="2706167"/>
            <a:ext cx="311810" cy="31181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676132" y="3273552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Correction — Recommendation</a:t>
            </a:r>
            <a:endParaRPr lang="en-US" sz="1050" dirty="0"/>
          </a:p>
        </p:txBody>
      </p:sp>
      <p:pic>
        <p:nvPicPr>
          <p:cNvPr id="33" name="Image 11" descr="/home/claude/solar_ims/icons/arrowrigh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346" y="3076956"/>
            <a:ext cx="201168" cy="201168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10195560" y="2377440"/>
            <a:ext cx="1417320" cy="160020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1"/>
          <p:cNvSpPr/>
          <p:nvPr/>
        </p:nvSpPr>
        <p:spPr>
          <a:xfrm>
            <a:off x="10620756" y="2578608"/>
            <a:ext cx="566928" cy="566928"/>
          </a:xfrm>
          <a:prstGeom prst="ellipse">
            <a:avLst/>
          </a:prstGeom>
          <a:solidFill>
            <a:srgbClr val="2C367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12" descr="/home/claude/solar_ims/icons/monitor_oran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8315" y="2706167"/>
            <a:ext cx="311810" cy="31181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10268712" y="3273552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Output — Dashboard Alerts</a:t>
            </a:r>
            <a:endParaRPr lang="en-US" sz="1050" dirty="0"/>
          </a:p>
        </p:txBody>
      </p:sp>
      <p:sp>
        <p:nvSpPr>
          <p:cNvPr id="38" name="Text 23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50" b="0" i="1" kern="0" dirty="0">
                <a:solidFill>
                  <a:srgbClr val="6B7A99"/>
                </a:solidFill>
                <a:latin typeface="Calibri"/>
              </a:rPr>
              <a:t>Every</a:t>
            </a:r>
            <a:r>
              <a:rPr lang="en-US" sz="1250" b="0" i="1" kern="0" dirty="0">
                <a:solidFill>
                  <a:srgbClr val="6B7A99"/>
                </a:solidFill>
                <a:latin typeface="Calibri"/>
              </a:rPr>
              <a:t> </a:t>
            </a:r>
            <a:r>
              <a:rPr sz="1250" b="0" i="1" kern="0" dirty="0">
                <a:solidFill>
                  <a:srgbClr val="6B7A99"/>
                </a:solidFill>
                <a:latin typeface="Calibri"/>
              </a:rPr>
              <a:t>reading is validated, branched into healthy or degraded, then diagnosed against severity thresholds before a recommendation is issued.</a:t>
            </a:r>
          </a:p>
        </p:txBody>
      </p:sp>
      <p:sp>
        <p:nvSpPr>
          <p:cNvPr id="39" name="Shape 24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25"/>
          <p:cNvSpPr/>
          <p:nvPr/>
        </p:nvSpPr>
        <p:spPr>
          <a:xfrm>
            <a:off x="914400" y="5074920"/>
            <a:ext cx="10378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 b="0" i="0" kern="0" dirty="0">
                <a:solidFill>
                  <a:srgbClr val="36454F"/>
                </a:solidFill>
                <a:latin typeface="Calibri"/>
              </a:rPr>
              <a:t>A performance ratio at or above 0.95 is Healthy; below that, readings are classified as Monitor, Schedule Cleaning, or Clean Immediately.</a:t>
            </a:r>
          </a:p>
        </p:txBody>
      </p:sp>
      <p:sp>
        <p:nvSpPr>
          <p:cNvPr id="41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42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Solar IMS is expected to deliver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solar_ims/icons/gau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207523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Monitoring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visibility into how the plant is actually doing.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672584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solar_ims/icons/su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143" y="207523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Power Estimation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72584" y="265176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baseline for how much power we should be making.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449056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solar_ims/icons/shield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615" y="207523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3144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Health Assessment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65176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view of the plants condition, rather than just raw numbers.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96112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solar_ims/icons/wren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71" y="431551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06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Recommendation Engine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489204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exactly what to do: Healthy, Monitor, Schedule, or Clean Immediately.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672584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4" descr="/home/claude/solar_ims/icons/mon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143" y="4315511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76672" y="4206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Estimation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72584" y="489204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how much energy and money we are losing.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449056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/home/claude/solar_ims/icons/monito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615" y="4315511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3144" y="4206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49056" y="489204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view for both operators and executives to make decisions.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day in the life of a maintenance operator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27889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solar_ims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10" y="296037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plants health right when the shift starts.</a:t>
            </a:r>
            <a:endParaRPr lang="en-US" sz="1050" dirty="0"/>
          </a:p>
        </p:txBody>
      </p:sp>
      <p:pic>
        <p:nvPicPr>
          <p:cNvPr id="10" name="Image 1" descr="/home/claude/solar_ims/icons/caretrigh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763" y="3657600"/>
            <a:ext cx="146304" cy="1463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91790" y="210312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307467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531870" y="27889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/home/claude/solar_ims/icons/magnif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96037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28950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074670" y="4206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areas that are underperforming.</a:t>
            </a:r>
            <a:endParaRPr lang="en-US" sz="1050" dirty="0"/>
          </a:p>
        </p:txBody>
      </p:sp>
      <p:pic>
        <p:nvPicPr>
          <p:cNvPr id="17" name="Image 3" descr="/home/claude/solar_ims/icons/caretrigh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473" y="3657600"/>
            <a:ext cx="146304" cy="14630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43500" y="210312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532638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783580" y="27889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4" descr="/home/claude/solar_ims/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030" y="2960370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80660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326380" y="4206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issues that actually impact our bottom line.</a:t>
            </a:r>
            <a:endParaRPr lang="en-US" sz="1050" dirty="0"/>
          </a:p>
        </p:txBody>
      </p:sp>
      <p:pic>
        <p:nvPicPr>
          <p:cNvPr id="24" name="Image 5" descr="/home/claude/solar_ims/icons/caretrigh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183" y="3657600"/>
            <a:ext cx="146304" cy="14630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95210" y="210312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18"/>
          <p:cNvSpPr/>
          <p:nvPr/>
        </p:nvSpPr>
        <p:spPr>
          <a:xfrm>
            <a:off x="757809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8035290" y="27889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6" descr="/home/claude/solar_ims/icons/tru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6740" y="2960370"/>
            <a:ext cx="342900" cy="3429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32370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578090" y="4206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crews out only where they can actually help.</a:t>
            </a:r>
            <a:endParaRPr lang="en-US" sz="1050" dirty="0"/>
          </a:p>
        </p:txBody>
      </p:sp>
      <p:pic>
        <p:nvPicPr>
          <p:cNvPr id="31" name="Image 7" descr="/home/claude/solar_ims/icons/caretrigh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893" y="3657600"/>
            <a:ext cx="146304" cy="14630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646920" y="2103120"/>
            <a:ext cx="1965960" cy="3291840"/>
          </a:xfrm>
          <a:prstGeom prst="roundRect">
            <a:avLst>
              <a:gd name="adj" fmla="val 4186"/>
            </a:avLst>
          </a:prstGeom>
          <a:solidFill>
            <a:srgbClr val="242C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3"/>
          <p:cNvSpPr/>
          <p:nvPr/>
        </p:nvSpPr>
        <p:spPr>
          <a:xfrm>
            <a:off x="982980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10287000" y="27889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8" descr="/home/claude/solar_ims/icon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8450" y="2960370"/>
            <a:ext cx="342900" cy="3429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84080" y="3703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829800" y="4206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issue is fixed and move on.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3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ultimately achieved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194767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solar_ims/icons/d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41" y="2067001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0604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Unnecessary Cleaning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99008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only go out when the panels actually need it, saving us money.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9392" y="16916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35424" y="194767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solar_ims/icons/calend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753" y="2067001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5424" y="260604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Maintenance Planning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35424" y="299008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 away from fixed calendars and only clean when necessary.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18704" y="16916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174736" y="194767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solar_ims/icons/lightn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065" y="2067001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4736" y="260604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Energy Recovery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74736" y="299008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issues early saves energy we would have otherwise lost.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9476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96112" y="40507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solar_ims/icons/ge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" y="4170121"/>
            <a:ext cx="291694" cy="291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7091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Resource Utilization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509320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 our maintenance efforts where they matter most.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79392" y="379476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535424" y="40507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4" descr="/home/claude/solar_ims/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753" y="4170121"/>
            <a:ext cx="291694" cy="2916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35424" y="47091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 Making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35424" y="509320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backed by data, not guesswork.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18704" y="379476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3"/>
          <p:cNvSpPr/>
          <p:nvPr/>
        </p:nvSpPr>
        <p:spPr>
          <a:xfrm>
            <a:off x="8193024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193024" y="43891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from fixed schedules to smart, targeted maintenance.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we need in one place.</a:t>
            </a:r>
            <a:endParaRPr lang="en-US" sz="3400" dirty="0"/>
          </a:p>
        </p:txBody>
      </p:sp>
      <p:pic>
        <p:nvPicPr>
          <p:cNvPr id="4" name="Image 0" descr="/home/claude/solar_ims/icons/das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57350"/>
            <a:ext cx="6675120" cy="41696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6675120" cy="4169664"/>
          </a:xfrm>
          <a:prstGeom prst="rect">
            <a:avLst/>
          </a:prstGeom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57790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preview — see live Streamlit dashboard for full detail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54380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/home/claude/solar_ims/icons/present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670" y="16573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0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138160" y="1847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see how the whole portfolio is doing.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4380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/home/claude/solar_ims/icons/shield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70" y="25260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2404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Health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138160" y="2715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live condition of the plant.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543800" y="3291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/home/claude/solar_ims/icons/wren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670" y="339471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3816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Recommendations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3816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prioritized steps to take right now.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4380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/home/claude/solar_ims/icons/mon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6670" y="426339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38160" y="4142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8138160" y="4453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how much money and energy were losing.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543800" y="5029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/home/claude/solar_ims/icons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6670" y="513207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38160" y="5010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138160" y="5321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 deeper into the data if you need to.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00281-4956-6BA6-A66F-F7C0307A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FCD6FC-E4F6-AD2D-C664-7B54EA7861FB}"/>
              </a:ext>
            </a:extLst>
          </p:cNvPr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300" b="1" kern="0" spc="200">
                <a:solidFill>
                  <a:srgbClr val="F5A623"/>
                </a:solidFill>
                <a:latin typeface="Calibri"/>
              </a:rPr>
              <a:t>EXPLAINABLE AI &amp; DECISION TRACE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A363A2-D7A6-1574-681F-3EC42483A4BB}"/>
              </a:ext>
            </a:extLst>
          </p:cNvPr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400" b="1" kern="0">
                <a:solidFill>
                  <a:srgbClr val="1E2761"/>
                </a:solidFill>
                <a:latin typeface="Cambria"/>
              </a:rPr>
              <a:t>Building trust with a transparent 9-stage audit trail.</a:t>
            </a:r>
          </a:p>
        </p:txBody>
      </p:sp>
      <p:pic>
        <p:nvPicPr>
          <p:cNvPr id="4" name="Image 0" descr="/home/claude/solar_ims/icons/dash_mock.png">
            <a:extLst>
              <a:ext uri="{FF2B5EF4-FFF2-40B4-BE49-F238E27FC236}">
                <a16:creationId xmlns:a16="http://schemas.microsoft.com/office/drawing/2014/main" id="{63C3C078-021E-F9AA-4967-EEFCE7CC3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57350"/>
            <a:ext cx="6675120" cy="4169664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6F6C13C-1454-8E7B-2C94-924669140341}"/>
              </a:ext>
            </a:extLst>
          </p:cNvPr>
          <p:cNvSpPr/>
          <p:nvPr/>
        </p:nvSpPr>
        <p:spPr>
          <a:xfrm>
            <a:off x="640080" y="1554480"/>
            <a:ext cx="6675120" cy="4169664"/>
          </a:xfrm>
          <a:prstGeom prst="rect">
            <a:avLst/>
          </a:prstGeom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64AA248-3A64-3BA9-C331-A75DB467D695}"/>
              </a:ext>
            </a:extLst>
          </p:cNvPr>
          <p:cNvSpPr/>
          <p:nvPr/>
        </p:nvSpPr>
        <p:spPr>
          <a:xfrm>
            <a:off x="640080" y="57790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preview — see live Streamlit dashboard for full detail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AFFB43A-30FF-3D9D-C9E1-9C539FC59FF7}"/>
              </a:ext>
            </a:extLst>
          </p:cNvPr>
          <p:cNvSpPr/>
          <p:nvPr/>
        </p:nvSpPr>
        <p:spPr>
          <a:xfrm>
            <a:off x="754380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/home/claude/solar_ims/icons/presentation_white.png">
            <a:extLst>
              <a:ext uri="{FF2B5EF4-FFF2-40B4-BE49-F238E27FC236}">
                <a16:creationId xmlns:a16="http://schemas.microsoft.com/office/drawing/2014/main" id="{39570623-677E-10B0-55BD-5A5926BD8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670" y="1657350"/>
            <a:ext cx="251460" cy="2514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36BEB230-DDFB-0DE1-BC27-C13109EC6DBB}"/>
              </a:ext>
            </a:extLst>
          </p:cNvPr>
          <p:cNvSpPr/>
          <p:nvPr/>
        </p:nvSpPr>
        <p:spPr>
          <a:xfrm>
            <a:off x="8138160" y="1536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 i="0" kern="0">
                <a:solidFill>
                  <a:srgbClr val="1E2761"/>
                </a:solidFill>
                <a:latin typeface="Calibri"/>
              </a:rPr>
              <a:t>Complete Audit Trail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42AEAF1-6455-4ACC-81BD-D1AF70CE539B}"/>
              </a:ext>
            </a:extLst>
          </p:cNvPr>
          <p:cNvSpPr/>
          <p:nvPr/>
        </p:nvSpPr>
        <p:spPr>
          <a:xfrm>
            <a:off x="8138160" y="1847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050" b="0" i="0" kern="0">
                <a:solidFill>
                  <a:srgbClr val="6B7A99"/>
                </a:solidFill>
                <a:latin typeface="Calibri"/>
              </a:rPr>
              <a:t>Every decision is tracked from sensor input to final recommendation.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843454A-669C-FC9D-B089-AD02D68D39EC}"/>
              </a:ext>
            </a:extLst>
          </p:cNvPr>
          <p:cNvSpPr/>
          <p:nvPr/>
        </p:nvSpPr>
        <p:spPr>
          <a:xfrm>
            <a:off x="754380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/home/claude/solar_ims/icons/shieldcheck_white.png">
            <a:extLst>
              <a:ext uri="{FF2B5EF4-FFF2-40B4-BE49-F238E27FC236}">
                <a16:creationId xmlns:a16="http://schemas.microsoft.com/office/drawing/2014/main" id="{DEAEBEB8-B34F-C0EC-7163-5BE6DE207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70" y="2526030"/>
            <a:ext cx="251460" cy="2514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EEE75E8A-71D5-7F35-51A6-2FFB8C6A6A50}"/>
              </a:ext>
            </a:extLst>
          </p:cNvPr>
          <p:cNvSpPr/>
          <p:nvPr/>
        </p:nvSpPr>
        <p:spPr>
          <a:xfrm>
            <a:off x="8138160" y="24048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 i="0" kern="0">
                <a:solidFill>
                  <a:srgbClr val="1E2761"/>
                </a:solidFill>
                <a:latin typeface="Calibri"/>
              </a:rPr>
              <a:t>Data Validation Gates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4FEFE71-7E88-7AC7-6809-AB6AAB8D5D7E}"/>
              </a:ext>
            </a:extLst>
          </p:cNvPr>
          <p:cNvSpPr/>
          <p:nvPr/>
        </p:nvSpPr>
        <p:spPr>
          <a:xfrm>
            <a:off x="8138160" y="2715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050" b="0" i="0" kern="0">
                <a:solidFill>
                  <a:srgbClr val="6B7A99"/>
                </a:solidFill>
                <a:latin typeface="Calibri"/>
              </a:rPr>
              <a:t>Irradiance and power metrics are validated before any prediction runs.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12C4B185-C0C9-8D08-AAFF-2117B2FA2F19}"/>
              </a:ext>
            </a:extLst>
          </p:cNvPr>
          <p:cNvSpPr/>
          <p:nvPr/>
        </p:nvSpPr>
        <p:spPr>
          <a:xfrm>
            <a:off x="7543800" y="3291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/home/claude/solar_ims/icons/wrench_white.png">
            <a:extLst>
              <a:ext uri="{FF2B5EF4-FFF2-40B4-BE49-F238E27FC236}">
                <a16:creationId xmlns:a16="http://schemas.microsoft.com/office/drawing/2014/main" id="{F40527F1-BF0A-4AA1-8013-7093F7086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670" y="3394710"/>
            <a:ext cx="251460" cy="2514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F50BF519-EAB4-E47E-C993-9F5FB6A493BF}"/>
              </a:ext>
            </a:extLst>
          </p:cNvPr>
          <p:cNvSpPr/>
          <p:nvPr/>
        </p:nvSpPr>
        <p:spPr>
          <a:xfrm>
            <a:off x="813816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 i="0" kern="0">
                <a:solidFill>
                  <a:srgbClr val="1E2761"/>
                </a:solidFill>
                <a:latin typeface="Calibri"/>
              </a:rPr>
              <a:t>Transparent ML Model</a:t>
            </a: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DFF8EAA-C189-3A5C-C59D-9BA9A44118F5}"/>
              </a:ext>
            </a:extLst>
          </p:cNvPr>
          <p:cNvSpPr/>
          <p:nvPr/>
        </p:nvSpPr>
        <p:spPr>
          <a:xfrm>
            <a:off x="813816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050" b="0" i="0" kern="0">
                <a:solidFill>
                  <a:srgbClr val="6B7A99"/>
                </a:solidFill>
                <a:latin typeface="Calibri"/>
              </a:rPr>
              <a:t>The model estimates baseline generation and shows the performance gap.</a:t>
            </a: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3BB01485-48A2-0608-4DA9-42C229EA4408}"/>
              </a:ext>
            </a:extLst>
          </p:cNvPr>
          <p:cNvSpPr/>
          <p:nvPr/>
        </p:nvSpPr>
        <p:spPr>
          <a:xfrm>
            <a:off x="754380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/home/claude/solar_ims/icons/money_white.png">
            <a:extLst>
              <a:ext uri="{FF2B5EF4-FFF2-40B4-BE49-F238E27FC236}">
                <a16:creationId xmlns:a16="http://schemas.microsoft.com/office/drawing/2014/main" id="{7B76B403-014D-EFF6-E9CC-2EF6F2F389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6670" y="4263390"/>
            <a:ext cx="251460" cy="25146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D5FEBA44-9D98-52A8-6ED7-3D0592B77293}"/>
              </a:ext>
            </a:extLst>
          </p:cNvPr>
          <p:cNvSpPr/>
          <p:nvPr/>
        </p:nvSpPr>
        <p:spPr>
          <a:xfrm>
            <a:off x="8138160" y="4142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 i="0" kern="0">
                <a:solidFill>
                  <a:srgbClr val="1E2761"/>
                </a:solidFill>
                <a:latin typeface="Calibri"/>
              </a:rPr>
              <a:t>Rule-Based Severity</a:t>
            </a: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2645984-94CE-ACA1-7646-6CD6A47F8AEF}"/>
              </a:ext>
            </a:extLst>
          </p:cNvPr>
          <p:cNvSpPr/>
          <p:nvPr/>
        </p:nvSpPr>
        <p:spPr>
          <a:xfrm>
            <a:off x="8138160" y="4453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050" b="0" i="0" kern="0">
                <a:solidFill>
                  <a:srgbClr val="6B7A99"/>
                </a:solidFill>
                <a:latin typeface="Calibri"/>
              </a:rPr>
              <a:t>The gap is classified into clear severity bands, never a black box.</a:t>
            </a: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00B3057F-4C5E-B151-EC88-2C3CAF56D081}"/>
              </a:ext>
            </a:extLst>
          </p:cNvPr>
          <p:cNvSpPr/>
          <p:nvPr/>
        </p:nvSpPr>
        <p:spPr>
          <a:xfrm>
            <a:off x="7543800" y="5029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/home/claude/solar_ims/icons/chart_white.png">
            <a:extLst>
              <a:ext uri="{FF2B5EF4-FFF2-40B4-BE49-F238E27FC236}">
                <a16:creationId xmlns:a16="http://schemas.microsoft.com/office/drawing/2014/main" id="{46B8784F-67B8-97A8-D173-D4EB1903A4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6670" y="5132070"/>
            <a:ext cx="251460" cy="251460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313FD54E-3E0B-3462-96F2-E3D52E9FD9AA}"/>
              </a:ext>
            </a:extLst>
          </p:cNvPr>
          <p:cNvSpPr/>
          <p:nvPr/>
        </p:nvSpPr>
        <p:spPr>
          <a:xfrm>
            <a:off x="8138160" y="5010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 i="0" kern="0">
                <a:solidFill>
                  <a:srgbClr val="1E2761"/>
                </a:solidFill>
                <a:latin typeface="Calibri"/>
              </a:rPr>
              <a:t>Weighted Confidence</a:t>
            </a: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FD0B95BD-CF2E-8A08-3270-E667029D2442}"/>
              </a:ext>
            </a:extLst>
          </p:cNvPr>
          <p:cNvSpPr/>
          <p:nvPr/>
        </p:nvSpPr>
        <p:spPr>
          <a:xfrm>
            <a:off x="8138160" y="5321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050" b="0" i="0" kern="0">
                <a:solidFill>
                  <a:srgbClr val="6B7A99"/>
                </a:solidFill>
                <a:latin typeface="Calibri"/>
              </a:rPr>
              <a:t>A 0–100% confidence score reflects the quality of the input data.</a:t>
            </a: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EE6833E4-FD39-73A6-0A66-E3D5308B5122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277A3C08-B5B2-22D8-B216-79E1C91A30A6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6791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roadmap for plant-wide monitoring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96112" y="19659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solar_ims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517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IoT Integration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30632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periodic data to continuous, live monitoring.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672584" y="19659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solar_ims/icons/radi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6517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SCADA Integration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72584" y="30632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into existing plant control systems.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449056" y="19659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solar_ims/icons/camer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089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6517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Camera Analysis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49056" y="306324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hotspots and cell-level faults, not just soiling.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96112" y="420624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solar_ims/icons/dro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" y="43296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8920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 Inspection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3035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aerial surveys for large-footprint plants.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6552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672584" y="420624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4" descr="/home/claude/solar_ims/icons/c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028" y="432968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2584" y="48920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72584" y="53035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issues before performance is affected.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93024" y="39319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449056" y="420624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/home/claude/solar_ims/icons/glob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0" y="432968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9056" y="48920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Fleet-Wide Monitoring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49056" y="53035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view across every plant in the portfolio.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olar_ims/icons/hero_s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30">
              <a:alpha val="6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from reactive maintenance to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smart, data-driven decisions.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5204A">
              <a:alpha val="90000"/>
            </a:srgbClr>
          </a:solidFill>
          <a:ln w="1270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868680" y="2770632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/home/claude/solar_ims/icon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9077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381304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 and dust silently eat into our power and revenue.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47288" y="25146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5204A">
              <a:alpha val="90000"/>
            </a:srgbClr>
          </a:solidFill>
          <a:ln w="1270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3675888" y="2770632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/home/claude/solar_ims/icons/su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48" y="29077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75888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75888" y="381304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IMS turns data into clear steps for our team.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54496" y="25146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5204A">
              <a:alpha val="90000"/>
            </a:srgbClr>
          </a:solidFill>
          <a:ln w="1270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483096" y="2770632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/home/claude/solar_ims/icons/mon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290779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83096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83096" y="381304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costs, more energy, and smarter maintenance.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061704" y="25146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15204A">
              <a:alpha val="90000"/>
            </a:srgbClr>
          </a:solidFill>
          <a:ln w="12700">
            <a:solidFill>
              <a:srgbClr val="2C3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6"/>
          <p:cNvSpPr/>
          <p:nvPr/>
        </p:nvSpPr>
        <p:spPr>
          <a:xfrm>
            <a:off x="9290304" y="2770632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4" descr="/home/claude/solar_ims/icons/glo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464" y="290779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90304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290304" y="381304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easily from one plant to our whole fleet.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40080" y="5212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3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Intelligent Monitoring System  |  Soiling Intelligence &amp; Cleaning Recommendation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2113</Words>
  <Application>Microsoft Office PowerPoint</Application>
  <PresentationFormat>Widescreen</PresentationFormat>
  <Paragraphs>214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Rishabh Sipani</cp:lastModifiedBy>
  <cp:revision>1</cp:revision>
  <dcterms:created xsi:type="dcterms:W3CDTF">2026-07-24T10:28:05Z</dcterms:created>
  <dcterms:modified xsi:type="dcterms:W3CDTF">2026-08-19T10:25:04Z</dcterms:modified>
</cp:coreProperties>
</file>